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BM Plex Mono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IBM Plex Mono Bold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Manrope"/>
      <p:regular r:id="rId201323"/>
    </p:embeddedFont>
    <p:embeddedFont>
      <p:font typeface="Manrope Medium"/>
      <p:regular r:id="rId201324"/>
    </p:embeddedFont>
    <p:embeddedFont>
      <p:font typeface="Manrope SemiBold"/>
      <p:regular r:id="rId201325"/>
    </p:embeddedFont>
    <p:embeddedFont>
      <p:font typeface="Manrope Bold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9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84200"/>
            <a:ext cx="114805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7E849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RAZORPAY AI RISK MANAGER · PRODUCT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0383" y="1373386"/>
            <a:ext cx="1087092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 payment dispute isn't just a transaction problem.</a:t>
            </a:r>
            <a:endParaRPr lang="en-US" sz="7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FF3B3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It's an investigation problem.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60383" y="5256411"/>
            <a:ext cx="1148051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dispute intelligence and evidence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0383" y="6124575"/>
            <a:ext cx="2294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97571" y="6124575"/>
            <a:ext cx="2294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DISPUTE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34759" y="6124575"/>
            <a:ext cx="2294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INVESTIGATION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1946" y="6124575"/>
            <a:ext cx="22944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9233" y="6124575"/>
            <a:ext cx="2294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46421" y="6124575"/>
            <a:ext cx="2294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533400"/>
            <a:ext cx="42162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THE PROBLEM · DISPUTE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89" y="835025"/>
            <a:ext cx="3606710" cy="1282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Dispute handling is an investigation workflow.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31789" y="2342753"/>
            <a:ext cx="360671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dispute moves through seven linked stages: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1789" y="3050778"/>
            <a:ext cx="36067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TRANSACTION → DISPUTE → MANUAL INVESTIGATION → RISK ASSESSMENT → EVIDENCE COLLECTION → RESPONSE → SUBMISSION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1789" y="5305425"/>
            <a:ext cx="3606710" cy="19050"/>
          </a:xfrm>
          <a:prstGeom prst="roundRect">
            <a:avLst>
              <a:gd name="adj" fmla="val 49999"/>
            </a:avLst>
          </a:prstGeom>
          <a:solidFill>
            <a:srgbClr val="292D36"/>
          </a:solidFill>
          <a:ln/>
        </p:spPr>
      </p:sp>
      <p:sp>
        <p:nvSpPr>
          <p:cNvPr id="7" name="Text 5"/>
          <p:cNvSpPr/>
          <p:nvPr/>
        </p:nvSpPr>
        <p:spPr>
          <a:xfrm>
            <a:off x="431789" y="5572125"/>
            <a:ext cx="36067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The challenge.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Managing the dispute is not enough. The investigation has to stay connected end to end.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70288" y="0"/>
            <a:ext cx="7721407" cy="6858000"/>
          </a:xfrm>
          <a:custGeom>
            <a:avLst/>
            <a:gdLst/>
            <a:ahLst/>
            <a:cxnLst/>
            <a:rect l="l" t="t" r="r" b="b"/>
            <a:pathLst>
              <a:path w="7721407" h="6858000">
                <a:moveTo>
                  <a:pt x="0" y="0"/>
                </a:moveTo>
                <a:lnTo>
                  <a:pt x="7614710" y="0"/>
                </a:lnTo>
                <a:arcTo hR="106699" wR="106696" stAng="16200000" swAng="5400000"/>
                <a:lnTo>
                  <a:pt x="7721407" y="6751301"/>
                </a:lnTo>
                <a:arcTo hR="106699" wR="106696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11318"/>
          </a:solidFill>
          <a:ln/>
        </p:spPr>
      </p:sp>
      <p:sp>
        <p:nvSpPr>
          <p:cNvPr id="9" name="Text 7"/>
          <p:cNvSpPr/>
          <p:nvPr/>
        </p:nvSpPr>
        <p:spPr>
          <a:xfrm>
            <a:off x="5587860" y="1041400"/>
            <a:ext cx="19049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BBC1CC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Fragmented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7860" y="1410494"/>
            <a:ext cx="1904952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is scattered across steps.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69171" y="1041400"/>
            <a:ext cx="19049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BBC1CC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Manual investigation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69171" y="1410494"/>
            <a:ext cx="1904952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Investigators piece together what happened.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87860" y="3798788"/>
            <a:ext cx="19049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BBC1CC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860" y="4167882"/>
            <a:ext cx="1904952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is judged from limited signals.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69171" y="3798788"/>
            <a:ext cx="19049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BBC1CC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Evidence prep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69171" y="4167882"/>
            <a:ext cx="1904952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 need structured preparation.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78275" y="5712222"/>
            <a:ext cx="6705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BBC1CC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Time-sensitive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78275" y="6081316"/>
            <a:ext cx="721342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Disputes must move through their lifecycle fast.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78275" y="3005038"/>
            <a:ext cx="6705432" cy="1270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978275" y="5528072"/>
            <a:ext cx="6705432" cy="1270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THE SOLUTION · RAZORPAY AI RISK MANAGER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9625"/>
            <a:ext cx="10972526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From dispute record → intelligent investigation → actionable response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1889919"/>
            <a:ext cx="2514537" cy="635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10581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3B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9860" y="2099469"/>
            <a:ext cx="2576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DISPUTE LIFECYCLE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79860" y="2502694"/>
            <a:ext cx="1966466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Creation → Investigation → Evidence → Response → Submission → Resolution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8914" y="1889919"/>
            <a:ext cx="2514537" cy="635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9" name="Text 7"/>
          <p:cNvSpPr/>
          <p:nvPr/>
        </p:nvSpPr>
        <p:spPr>
          <a:xfrm>
            <a:off x="3606710" y="2110581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3B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12604" y="2099469"/>
            <a:ext cx="23626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RISK ANALYSIS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12604" y="2502694"/>
            <a:ext cx="1753052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Structured transaction and dispute signals generate risk intelligence.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244" y="1889919"/>
            <a:ext cx="2514537" cy="635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039" y="2110581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3B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4314" y="2099469"/>
            <a:ext cx="23602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INTELLIGENCE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34314" y="2502694"/>
            <a:ext cx="1750671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Finds relevant information, missing evidence, contradictions, and supporting claims.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67573" y="1889919"/>
            <a:ext cx="2514537" cy="635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9245369" y="2110581"/>
            <a:ext cx="8453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3B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58902" y="2099469"/>
            <a:ext cx="25327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RESPONSE &amp; PACKAGE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58902" y="2502694"/>
            <a:ext cx="192320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Brings findings and evidence together into a structured response package.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585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DISPUTE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3738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INVESTIGATE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7892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ANALYZE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046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GENERATE EVIDENCE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6199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PACKAGE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80353" y="5695950"/>
            <a:ext cx="23113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RESPOND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585" y="609917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AI is not isolated from the workflow.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It sits inside the investigation.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2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50" spc="66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SYSTEM DESIGN · TECHNICAL EVIDENCE EXHIBIT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09585" y="768449"/>
            <a:ext cx="10972526" cy="256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89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Hybrid AI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1105892"/>
            <a:ext cx="11582110" cy="121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ML + Evidence Intelligence + Workflow Orchestration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09585" y="1300163"/>
            <a:ext cx="10972526" cy="577155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28763"/>
            <a:ext cx="11124922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BBC1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RAZORPAY PAYMENT / DISPUTE SYSTEM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04792" y="2105918"/>
            <a:ext cx="1158211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DISPUTE EVENT / WEBHOOK*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09585" y="2454473"/>
            <a:ext cx="10972526" cy="577155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9" name="Text 7"/>
          <p:cNvSpPr/>
          <p:nvPr/>
        </p:nvSpPr>
        <p:spPr>
          <a:xfrm>
            <a:off x="533387" y="2683073"/>
            <a:ext cx="11124922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BBC1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RAZORPAY AI RISK MANAGER </a:t>
            </a:r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(ORCHESTRATOR)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04792" y="3260229"/>
            <a:ext cx="1158211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BRANCHES INTO THREE WORKSTREAMS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09585" y="3428107"/>
            <a:ext cx="3555911" cy="757734"/>
          </a:xfrm>
          <a:prstGeom prst="rect">
            <a:avLst/>
          </a:prstGeom>
          <a:noFill/>
          <a:ln w="6350">
            <a:solidFill>
              <a:srgbClr val="292D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736" y="3663057"/>
            <a:ext cx="3695608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DISPUTE LIFECYCLE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317892" y="3428107"/>
            <a:ext cx="3555911" cy="757734"/>
          </a:xfrm>
          <a:prstGeom prst="rect">
            <a:avLst/>
          </a:prstGeom>
          <a:noFill/>
          <a:ln w="6350">
            <a:solidFill>
              <a:srgbClr val="FF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2836" y="3663057"/>
            <a:ext cx="3086023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350"/>
              </a:spcAft>
              <a:buNone/>
            </a:pPr>
            <a:r>
              <a:rPr lang="en-US" sz="650" spc="13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RISK ANALYSIS</a:t>
            </a:r>
            <a:endParaRPr lang="en-US" sz="6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Fraud Model + Win Probability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026199" y="3428107"/>
            <a:ext cx="3555911" cy="757734"/>
          </a:xfrm>
          <a:prstGeom prst="rect">
            <a:avLst/>
          </a:prstGeom>
          <a:noFill/>
          <a:ln w="6350">
            <a:solidFill>
              <a:srgbClr val="292D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1143" y="3663057"/>
            <a:ext cx="3086023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350"/>
              </a:spcAft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INTELLIGENCE</a:t>
            </a:r>
            <a:endParaRPr lang="en-US" sz="6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DeepSeek Evidence AI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4792" y="4643041"/>
            <a:ext cx="1158211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ALL THREE CONVERGE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09585" y="4991596"/>
            <a:ext cx="10972526" cy="577155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9" name="Text 17"/>
          <p:cNvSpPr/>
          <p:nvPr/>
        </p:nvSpPr>
        <p:spPr>
          <a:xfrm>
            <a:off x="533387" y="5220196"/>
            <a:ext cx="11124922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PACKAGE + RESPONSE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04792" y="5797352"/>
            <a:ext cx="1158211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MERCHANT REVIEW / APPROVAL → RAZORPAY MERCHANT DASHBOARD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04792" y="6374507"/>
            <a:ext cx="11582110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50" spc="13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DISPUTE SUBMISSION*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9585" y="6821190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92D36"/>
          </a:solidFill>
          <a:ln/>
        </p:spPr>
      </p:sp>
      <p:sp>
        <p:nvSpPr>
          <p:cNvPr id="23" name="Text 21"/>
          <p:cNvSpPr/>
          <p:nvPr/>
        </p:nvSpPr>
        <p:spPr>
          <a:xfrm>
            <a:off x="609585" y="6932017"/>
            <a:ext cx="109725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b="1" spc="13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EVENT BOUNDARY: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dispute event enters the risk-management workflow. 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b="1" spc="13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STRUCTURED ML: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fraud and win-probability models evaluate structured signals. 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b="1" spc="13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EVIDENCE AI: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DeepSeek supports evidence reasoning and analysis. 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b="1" spc="13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HUMAN-IN-THE-LOOP:</a:t>
            </a:r>
            <a:pPr algn="l" indent="0" marL="0">
              <a:lnSpc>
                <a:spcPct val="125000"/>
              </a:lnSpc>
              <a:spcAft>
                <a:spcPts val="550"/>
              </a:spcAft>
              <a:buNone/>
            </a:pPr>
            <a:r>
              <a:rPr lang="en-US" sz="650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merchant/investigator reviews the generated intelligence and response.</a:t>
            </a:r>
            <a:endParaRPr lang="en-US" sz="6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650" i="1" spc="13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*Current build represents the Razorpay integration boundary through the project's simulated/normalized workflow; production webhook and submission integration are future integration points.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93" y="6096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LIVE WORKFLOW · NEXT: WORKING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4185" y="1154410"/>
            <a:ext cx="11023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Let's follow one dispute</a:t>
            </a:r>
            <a:endParaRPr lang="en-US" sz="7200" dirty="0"/>
          </a:p>
          <a:p>
            <a:pPr algn="ctr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FF3B3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from payment to submission.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9393" y="4232870"/>
            <a:ext cx="19370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63996" y="4232870"/>
            <a:ext cx="13276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DISPUTE CREATED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39113" y="4232870"/>
            <a:ext cx="19372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19123" y="4232870"/>
            <a:ext cx="19371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99032" y="4232870"/>
            <a:ext cx="19371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79041" y="4232870"/>
            <a:ext cx="19371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PACKAGE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3744" y="4232870"/>
            <a:ext cx="9957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MERCHANT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306983" y="4232870"/>
            <a:ext cx="16053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4185" y="4968180"/>
            <a:ext cx="11023324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ONE DISPUTE. ONE INVESTIGATION. ONE END-TO-END WORKFLOW.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79393" y="6048474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next section switches from presentation to the working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330200"/>
            <a:ext cx="116075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MODEL PERFORMANCE · REPRODUCED EVALUATION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4185" y="631825"/>
            <a:ext cx="11023324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ML layer is evaluated — not just demonstrated.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84185" y="1284684"/>
            <a:ext cx="116075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machine learning powering the risk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4185" y="1689497"/>
            <a:ext cx="5716544" cy="4226719"/>
          </a:xfrm>
          <a:prstGeom prst="roundRect">
            <a:avLst>
              <a:gd name="adj" fmla="val 2884"/>
            </a:avLst>
          </a:prstGeom>
          <a:solidFill>
            <a:srgbClr val="111318"/>
          </a:solidFill>
          <a:ln w="6350">
            <a:solidFill>
              <a:srgbClr val="292D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31" y="1848247"/>
            <a:ext cx="60086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FRAUD MODEL V2 · XGBOOST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2931" y="2251472"/>
            <a:ext cx="5399052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FF3B3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0.9841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42931" y="3035697"/>
            <a:ext cx="60086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 · held-out test set: 744 samples, 66 fraud cases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2931" y="3369072"/>
            <a:ext cx="2273541" cy="1533525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0" name="Text 8"/>
          <p:cNvSpPr/>
          <p:nvPr/>
        </p:nvSpPr>
        <p:spPr>
          <a:xfrm>
            <a:off x="742931" y="3369072"/>
            <a:ext cx="2273541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PR-AUC · 0.8559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Precision @0.75 · 0.7534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Recall @0.75 · 0.8333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@0.75 · 0.7914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Brier Score · 0.0404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8769" y="3369072"/>
            <a:ext cx="2973214" cy="1533525"/>
          </a:xfrm>
          <a:prstGeom prst="rect">
            <a:avLst/>
          </a:prstGeom>
          <a:solidFill>
            <a:srgbClr val="11131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68769" y="3521472"/>
          <a:ext cx="9143771" cy="914400"/>
        </p:xfrm>
        <a:graphic>
          <a:graphicData uri="http://schemas.openxmlformats.org/drawingml/2006/table">
            <a:tbl>
              <a:tblPr/>
              <a:tblGrid>
                <a:gridCol w="1171266"/>
                <a:gridCol w="900974"/>
                <a:gridCol w="900974"/>
              </a:tblGrid>
              <a:tr h="46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6" kern="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ACTUAL \ PRED.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6" kern="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FRAUD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6" kern="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FRAUD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3079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Fraud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660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Fraud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E849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799" marR="63498" marT="38099" marB="38099" anchor="ctr">
                    <a:lnL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05422" y="1689497"/>
            <a:ext cx="5002087" cy="4226719"/>
          </a:xfrm>
          <a:prstGeom prst="roundRect">
            <a:avLst>
              <a:gd name="adj" fmla="val 2884"/>
            </a:avLst>
          </a:prstGeom>
          <a:solidFill>
            <a:srgbClr val="111318"/>
          </a:solidFill>
          <a:ln w="6350">
            <a:solidFill>
              <a:srgbClr val="FF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4168" y="1848247"/>
            <a:ext cx="52941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 PROBABILITY MODEL · RANDOM FOREST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4168" y="2251472"/>
            <a:ext cx="468459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FF3B3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0.8688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764168" y="3035697"/>
            <a:ext cx="52941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ROC-AUC · test set: 400 samples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64168" y="3369072"/>
            <a:ext cx="4684595" cy="788194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8" name="Text 15"/>
          <p:cNvSpPr/>
          <p:nvPr/>
        </p:nvSpPr>
        <p:spPr>
          <a:xfrm>
            <a:off x="6764168" y="3369072"/>
            <a:ext cx="52941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PR-AUC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64168" y="3772297"/>
            <a:ext cx="46845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0.9406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64168" y="4157266"/>
            <a:ext cx="4684595" cy="88900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21" name="Text 18"/>
          <p:cNvSpPr/>
          <p:nvPr/>
        </p:nvSpPr>
        <p:spPr>
          <a:xfrm>
            <a:off x="6764168" y="4335066"/>
            <a:ext cx="4684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Precision · 0.8739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Recall · 0.9448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764168" y="5046266"/>
            <a:ext cx="4684595" cy="71120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23" name="Text 20"/>
          <p:cNvSpPr/>
          <p:nvPr/>
        </p:nvSpPr>
        <p:spPr>
          <a:xfrm>
            <a:off x="6764168" y="5224066"/>
            <a:ext cx="46845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· 0.9080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Brier Score · 0.1125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4185" y="6119416"/>
            <a:ext cx="110233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7E849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Live service.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Both model artifacts are loaded into the live service and produce inference within the dispute/transaction workflow. </a:t>
            </a:r>
            <a:pPr algn="l" indent="0" marL="0">
              <a:lnSpc>
                <a:spcPct val="125000"/>
              </a:lnSpc>
              <a:buNone/>
            </a:pPr>
            <a:r>
              <a:rPr lang="en-US" sz="1050" i="1" spc="21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Metrics are reproduced evaluation results reported by the project team.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64168" y="4150916"/>
            <a:ext cx="4684595" cy="1270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26" name="Shape 23"/>
          <p:cNvSpPr/>
          <p:nvPr/>
        </p:nvSpPr>
        <p:spPr>
          <a:xfrm>
            <a:off x="6764168" y="5039916"/>
            <a:ext cx="4684595" cy="12700"/>
          </a:xfrm>
          <a:prstGeom prst="rect">
            <a:avLst/>
          </a:prstGeom>
          <a:solidFill>
            <a:srgbClr val="292D3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330200"/>
            <a:ext cx="11607510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7" kern="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ROADMAP · FROM WORKING ML TO PRODUCTION-GRADE RISK INTELLIGENCE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4185" y="620117"/>
            <a:ext cx="11023324" cy="4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200" spc="-144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exists now. What earns production trust next.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4185" y="1246684"/>
            <a:ext cx="3471180" cy="635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405434"/>
            <a:ext cx="3623577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" kern="0" dirty="0">
                <a:solidFill>
                  <a:srgbClr val="FF3B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· CURRENT ACHIEVEMENT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780" y="1724918"/>
            <a:ext cx="3013992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Model V2; Win Probability Model; live-service inference; dispute lifecycle workflow; AI-assisted risk analysis; evidence intelligence workflow; evidence package / response workflow.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0158" y="1246684"/>
            <a:ext cx="3471280" cy="635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8" name="Text 6"/>
          <p:cNvSpPr/>
          <p:nvPr/>
        </p:nvSpPr>
        <p:spPr>
          <a:xfrm>
            <a:off x="4588752" y="1405434"/>
            <a:ext cx="3623676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VALIDATION &amp; RELIABILITY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88752" y="1724918"/>
            <a:ext cx="3014091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model metrics; evidence-analysis completeness benchmarking; contradiction/accuracy benchmarking; DeepSeek hallucination-rate measurement against a labeled evidence set; frontend automated test coverage.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6230" y="1246684"/>
            <a:ext cx="3471280" cy="6350"/>
          </a:xfrm>
          <a:prstGeom prst="rect">
            <a:avLst/>
          </a:prstGeom>
          <a:solidFill>
            <a:srgbClr val="292D36"/>
          </a:solidFill>
          <a:ln/>
        </p:spPr>
      </p:sp>
      <p:sp>
        <p:nvSpPr>
          <p:cNvPr id="11" name="Text 9"/>
          <p:cNvSpPr/>
          <p:nvPr/>
        </p:nvSpPr>
        <p:spPr>
          <a:xfrm>
            <a:off x="8364824" y="1405434"/>
            <a:ext cx="3623676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· PRODUCTION READINESS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4824" y="1724918"/>
            <a:ext cx="3014091" cy="168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Dispute-listing performance benchmarking at 1,000+ disputes; larger-scale workflow optimization; additional risk signals; deeper payment integrations; more automated investigation workflows; continuous risk monitoring.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4185" y="4116586"/>
            <a:ext cx="11023225" cy="19050"/>
          </a:xfrm>
          <a:prstGeom prst="roundRect">
            <a:avLst>
              <a:gd name="adj" fmla="val 49999"/>
            </a:avLst>
          </a:prstGeom>
          <a:solidFill>
            <a:srgbClr val="292D36"/>
          </a:solidFill>
          <a:ln/>
        </p:spPr>
      </p:sp>
      <p:sp>
        <p:nvSpPr>
          <p:cNvPr id="14" name="Text 12"/>
          <p:cNvSpPr/>
          <p:nvPr/>
        </p:nvSpPr>
        <p:spPr>
          <a:xfrm>
            <a:off x="584185" y="4543127"/>
            <a:ext cx="11023324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50" spc="-192" kern="0" dirty="0">
                <a:solidFill>
                  <a:srgbClr val="F7F8F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 dispute starts with a payment.</a:t>
            </a:r>
            <a:endParaRPr lang="en-US" sz="425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250" spc="-192" kern="0" dirty="0">
                <a:solidFill>
                  <a:srgbClr val="FF3B3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We turn it into an investigation.</a:t>
            </a:r>
            <a:endParaRPr lang="en-US" sz="4250" dirty="0"/>
          </a:p>
        </p:txBody>
      </p:sp>
      <p:sp>
        <p:nvSpPr>
          <p:cNvPr id="15" name="Text 13"/>
          <p:cNvSpPr/>
          <p:nvPr/>
        </p:nvSpPr>
        <p:spPr>
          <a:xfrm>
            <a:off x="584185" y="5839222"/>
            <a:ext cx="1160751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BBC1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→ Intelligence → Evidence → Response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4185" y="6271518"/>
            <a:ext cx="11607510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7" kern="0" dirty="0">
                <a:solidFill>
                  <a:srgbClr val="FF3B3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RAZORPAY AI RISK MANAGER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4185" y="6666012"/>
            <a:ext cx="1160751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" kern="0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a disputed payment to an informed response.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2026-09-04T03:24:11Z</dcterms:created>
  <dcterms:modified xsi:type="dcterms:W3CDTF">2026-09-04T03:24:11Z</dcterms:modified>
</cp:coreProperties>
</file>